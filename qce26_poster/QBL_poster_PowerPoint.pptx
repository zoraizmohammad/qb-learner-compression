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572000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32918400" cy="64008"/>
          </a:xfrm>
          <a:prstGeom prst="rect">
            <a:avLst/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44568"/>
            <a:ext cx="32918400" cy="27432"/>
          </a:xfrm>
          <a:prstGeom prst="rect">
            <a:avLst/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uke_ec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19" y="502920"/>
            <a:ext cx="6035040" cy="79858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57200"/>
            <a:ext cx="7863840" cy="603504"/>
          </a:xfrm>
          <a:prstGeom prst="roundRect">
            <a:avLst>
              <a:gd name="adj" fmla="val 50000"/>
            </a:avLst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57200"/>
            <a:ext cx="786384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FFFFFF"/>
                </a:solidFill>
                <a:latin typeface="Arial"/>
              </a:rPr>
              <a:t>IEEE Quantum Week  —  QCE26 Poster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31638239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5600" b="1" i="0">
                <a:solidFill>
                  <a:srgbClr val="FFFFFF"/>
                </a:solidFill>
                <a:latin typeface="Arial"/>
              </a:rPr>
              <a:t>Hardware-Aware Quantum Bayesian Learner Compression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800" b="0" i="1">
                <a:solidFill>
                  <a:srgbClr val="CFDDF0"/>
                </a:solidFill>
                <a:latin typeface="Arial"/>
              </a:rPr>
              <a:t>Linking Human Belief Updating to NISQ Circuit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56432"/>
            <a:ext cx="25420319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3000" b="1" i="0">
                <a:solidFill>
                  <a:srgbClr val="FFFFFF"/>
                </a:solidFill>
                <a:latin typeface="Arial"/>
              </a:rPr>
              <a:t>Mohammad Zoraiz</a:t>
            </a:r>
            <a:r>
              <a:rPr sz="2600" b="0" i="0">
                <a:solidFill>
                  <a:srgbClr val="CFDDF0"/>
                </a:solidFill>
                <a:latin typeface="Arial"/>
              </a:rPr>
              <a:t>      ✉ mz248@duke.edu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CFDDF0"/>
                </a:solidFill>
                <a:latin typeface="Arial"/>
              </a:rPr>
              <a:t>Duke University  ·  Pratt School of Engineering  ·  Electrical Engineering, Physics &amp; Computer Science  ·  Durham, NC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83480"/>
            <a:ext cx="10302240" cy="598932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98348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40410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9808" y="5120640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102352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4983480"/>
            <a:ext cx="8948928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Motivation — Two fields, one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989320"/>
            <a:ext cx="9662160" cy="4800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Bayesian models cast human learning as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belief updating</a:t>
            </a:r>
            <a:r>
              <a:rPr sz="2200" b="0" i="0">
                <a:solidFill>
                  <a:srgbClr val="1A1A1A"/>
                </a:solidFill>
                <a:latin typeface="Arial"/>
              </a:rPr>
              <a:t>: a prior over hypotheses, revised by evidence.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Quantum cognition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represents beliefs as density operators in Hilbert space, with evidence acting through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quantum channels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On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NISQ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hardware,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two-qubit gates dominate the error budget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so removing them without breaking the task is a central engineering goal.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012169"/>
                </a:solidFill>
                <a:latin typeface="Arial"/>
              </a:rPr>
              <a:t>Central question:  </a:t>
            </a:r>
            <a:r>
              <a:rPr sz="2200" b="0" i="1">
                <a:solidFill>
                  <a:srgbClr val="012169"/>
                </a:solidFill>
                <a:latin typeface="Arial"/>
              </a:rPr>
              <a:t>How much of a quantum Bayesian learner’s entangling structure can we remove before it can no longer represent the task — and what happens on real hardware?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11384280"/>
            <a:ext cx="10302240" cy="1115568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1138428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1180490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9808" y="11521440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11503152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19072" y="11384280"/>
            <a:ext cx="8948928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The Quantum Bayesian Learner</a:t>
            </a:r>
          </a:p>
        </p:txBody>
      </p:sp>
      <p:pic>
        <p:nvPicPr>
          <p:cNvPr id="23" name="Picture 22" descr="pipeline_detai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408407"/>
            <a:ext cx="9662160" cy="388136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8680" y="16436072"/>
            <a:ext cx="9662160" cy="59027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Belief = state ρ on a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2-qubit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register; prior ρ₀ = “no evidence yet.” A stimulus x updates the belief via a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CPTP evidence channel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𝓔ₓ(ρ) = Σₖ Eₓₖ ρ Eₓₖ†.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Update circuit =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hardware-efficient ansatz</a:t>
            </a:r>
            <a:r>
              <a:rPr sz="2200" b="0" i="0">
                <a:solidFill>
                  <a:srgbClr val="1A1A1A"/>
                </a:solidFill>
                <a:latin typeface="Arial"/>
              </a:rPr>
              <a:t>: data re-uploading + per-layer Rₓ, R_z +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Heisenberg entanglers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U_ij = exp[−i(α XᵢXⱼ + β YᵢYⱼ + γ ZᵢZⱼ)]  as native R_XX, R_YY, R_ZZ. Depth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D = 4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2 re-uploads.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Readout: single-qubit Pauli expectations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v = (⟨Z₀⟩,⟨Z₁⟩,⟨X₀⟩,⟨X₁⟩) → trainable head ŷ = σ(w·v + b). Single-qubit-only readout means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entanglement is the ONLY way to carry feature interaction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— the two-qubit budget literally bounds the learner’s capacity.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Two realizations, same conclusions: a fast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pure-state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model and a literal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mixed-state density matrix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(maximally mixed prior I/2ⁿ, non-unital Lüders/POVM evidence filter + amplitude damping, Bayesian trace renormalization).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22951439"/>
            <a:ext cx="10302240" cy="1010412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22951439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337206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9808" y="23088599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23070311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19072" y="22951439"/>
            <a:ext cx="8948928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Method — mask, real cost, greedy pruning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3957280"/>
            <a:ext cx="9662160" cy="8915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Per-term binary mask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mₗ,ₚ ∈ {0,1} over p ∈ {XX,YY,ZZ} in each of D=4 layers  ⇒ 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12 maskable terms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(R_PP(0)=I when off).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Hardware-aware cost N₂q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= real post-transpile two-qubit gate count on IBM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FakeManila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(5-qubit, includes SWAPs), via Qiskit’s transpiler. Full circuit ⇒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N₂q = 24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(each active Heisenberg term = 2 CNOTs).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Objective: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L(θ,m) = (1/N) Σ BCE(yₖ, ŷ) + λ·N₂q(m).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Greedy structured pruning: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from the full circuit, repeatedly drop the term whose removal least increases training cross-entropy,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warm-start retrain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→ traces the accuracy-vs-N₂q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frontier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from 24 down to 0.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Exact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JAX autodiff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(no parameter-shift); statevector verified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bit-for-bit vs Qiskit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(|1 − fidelity| ≈ 4×10⁻¹⁶).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3467039"/>
            <a:ext cx="10302240" cy="493776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3467039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3887663"/>
            <a:ext cx="10302240" cy="420624"/>
          </a:xfrm>
          <a:prstGeom prst="rect">
            <a:avLst/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33467039"/>
            <a:ext cx="984504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Task — controllable difficulty knob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34472879"/>
            <a:ext cx="9662160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Checkerboard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categorization:  y = (⌊f·x₀⌋ + ⌊f·x₁⌋) mod 2,  stimuli in [0,1]².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Difficulty f: 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f=2 easy / f=3 medium / f=4 hard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  200 stimuli, 70/30 split, balanced ⇒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chance = 0.5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Local similarity, but the rule depends on the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joint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features ⇒ needs the interaction only entanglement can supply.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308079" y="4983480"/>
            <a:ext cx="10302240" cy="1234440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1308079" y="498348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308079" y="540410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1509248" y="5120640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509248" y="5102352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478511" y="4983480"/>
            <a:ext cx="8948928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Result 1 — The capacity boundary</a:t>
            </a:r>
          </a:p>
        </p:txBody>
      </p:sp>
      <p:pic>
        <p:nvPicPr>
          <p:cNvPr id="43" name="Picture 42" descr="fig_frontier_fam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48160" y="6007607"/>
            <a:ext cx="9022079" cy="649589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1628119" y="12631521"/>
            <a:ext cx="9662160" cy="452262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Above chance at all nonzero budgets (easy/medium ≈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0.95–0.97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hard ≈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0.87–0.93</a:t>
            </a:r>
            <a:r>
              <a:rPr sz="2200" b="0" i="0">
                <a:solidFill>
                  <a:srgbClr val="1A1A1A"/>
                </a:solidFill>
                <a:latin typeface="Arial"/>
              </a:rPr>
              <a:t>); frontier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nearly flat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→ most entangling structure is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redundant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At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N₂q = 0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all difficulties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collapse toward chance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(0.52 easy, 0.64 medium, 0.49 hard) → some entanglement is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necessary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but far less than the full circuit.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Hard task peaks at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intermediate cost (0.927 @ N₂q=6)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and is lower for the full circuit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(0.873 @ N₂q=24)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→ moderate compression acts as a capacity-control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regularizer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308079" y="17739360"/>
            <a:ext cx="10302240" cy="1773936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1308079" y="1773936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308079" y="1815998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509248" y="17876519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509248" y="17858231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478511" y="17739360"/>
            <a:ext cx="8948928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Result 2 — Structure beats count</a:t>
            </a:r>
          </a:p>
        </p:txBody>
      </p:sp>
      <p:pic>
        <p:nvPicPr>
          <p:cNvPr id="51" name="Picture 50" descr="fig_mask_abl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48160" y="18763488"/>
            <a:ext cx="9022079" cy="6495897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628119" y="25387401"/>
            <a:ext cx="96621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Learned (greedy) masks vs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random masks at matched N₂q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Learned wins at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every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budget by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~6–12 points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  Per seed: learned beats random in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49 / 55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paired comparisons, mean advantage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+0.083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one-sided Wilcoxon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p &lt; 10⁻⁷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012169"/>
                </a:solidFill>
                <a:latin typeface="Arial"/>
              </a:rPr>
              <a:t>⇒  </a:t>
            </a:r>
            <a:r>
              <a:rPr sz="2200" b="1" i="1">
                <a:solidFill>
                  <a:srgbClr val="012169"/>
                </a:solidFill>
                <a:latin typeface="Arial"/>
              </a:rPr>
              <a:t>Which</a:t>
            </a:r>
            <a:r>
              <a:rPr sz="2200" b="1" i="0">
                <a:solidFill>
                  <a:srgbClr val="012169"/>
                </a:solidFill>
                <a:latin typeface="Arial"/>
              </a:rPr>
              <a:t> entanglers you keep matters, not just how many.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28119" y="28633521"/>
            <a:ext cx="96621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012169"/>
                </a:solidFill>
                <a:latin typeface="Arial"/>
              </a:rPr>
              <a:t>Hard task — learned vs random  (mean acc, 5 seeds)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11628119" y="29136441"/>
          <a:ext cx="9662159" cy="50749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9188"/>
                <a:gridCol w="2898648"/>
                <a:gridCol w="2898648"/>
                <a:gridCol w="2125675"/>
              </a:tblGrid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N₂q</a:t>
                      </a:r>
                    </a:p>
                  </a:txBody>
                  <a:tcPr marL="73152" marR="73152" marT="18288" marB="18288" anchor="ctr">
                    <a:solidFill>
                      <a:srgbClr val="01216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Learned</a:t>
                      </a:r>
                    </a:p>
                  </a:txBody>
                  <a:tcPr marL="73152" marR="73152" marT="18288" marB="18288" anchor="ctr">
                    <a:solidFill>
                      <a:srgbClr val="01216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Random</a:t>
                      </a:r>
                    </a:p>
                  </a:txBody>
                  <a:tcPr marL="73152" marR="73152" marT="18288" marB="18288" anchor="ctr">
                    <a:solidFill>
                      <a:srgbClr val="01216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100" b="1" i="0">
                          <a:solidFill>
                            <a:srgbClr val="FFFFFF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73152" marR="73152" marT="18288" marB="18288" anchor="ctr">
                    <a:solidFill>
                      <a:srgbClr val="012169"/>
                    </a:solidFill>
                  </a:tcPr>
                </a:tc>
              </a:tr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0.847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0.742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1" i="0">
                          <a:solidFill>
                            <a:srgbClr val="00539B"/>
                          </a:solidFill>
                          <a:latin typeface="Arial"/>
                        </a:rPr>
                        <a:t>+0.104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0.927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0.814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1" i="0">
                          <a:solidFill>
                            <a:srgbClr val="00539B"/>
                          </a:solidFill>
                          <a:latin typeface="Arial"/>
                        </a:rPr>
                        <a:t>+0.112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</a:tr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0.913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0.794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1" i="0">
                          <a:solidFill>
                            <a:srgbClr val="00539B"/>
                          </a:solidFill>
                          <a:latin typeface="Arial"/>
                        </a:rPr>
                        <a:t>+0.119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0.917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0.826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1" i="0">
                          <a:solidFill>
                            <a:srgbClr val="00539B"/>
                          </a:solidFill>
                          <a:latin typeface="Arial"/>
                        </a:rPr>
                        <a:t>+0.091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</a:tr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0.900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0.809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1" i="0">
                          <a:solidFill>
                            <a:srgbClr val="00539B"/>
                          </a:solidFill>
                          <a:latin typeface="Arial"/>
                        </a:rPr>
                        <a:t>+0.091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0.897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0" i="0">
                          <a:solidFill>
                            <a:srgbClr val="1A1A1A"/>
                          </a:solidFill>
                          <a:latin typeface="Arial"/>
                        </a:rPr>
                        <a:t>0.836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2000" b="1" i="0">
                          <a:solidFill>
                            <a:srgbClr val="00539B"/>
                          </a:solidFill>
                          <a:latin typeface="Arial"/>
                        </a:rPr>
                        <a:t>+0.061</a:t>
                      </a:r>
                    </a:p>
                  </a:txBody>
                  <a:tcPr marL="73152" marR="73152" marT="18288" marB="18288" anchor="ctr"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55" name="Rounded Rectangle 54"/>
          <p:cNvSpPr/>
          <p:nvPr/>
        </p:nvSpPr>
        <p:spPr>
          <a:xfrm>
            <a:off x="11308079" y="35890200"/>
            <a:ext cx="10302240" cy="658368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1308079" y="3589020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308079" y="36310824"/>
            <a:ext cx="10302240" cy="420624"/>
          </a:xfrm>
          <a:prstGeom prst="rect">
            <a:avLst/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582400" y="35890200"/>
            <a:ext cx="984504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Structure, visualized — learned vs. random</a:t>
            </a:r>
          </a:p>
        </p:txBody>
      </p:sp>
      <p:pic>
        <p:nvPicPr>
          <p:cNvPr id="59" name="Picture 58" descr="lvr_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56719" y="36941760"/>
            <a:ext cx="9204960" cy="397970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1628119" y="41003758"/>
            <a:ext cx="9662160" cy="1323817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 i="0">
                <a:solidFill>
                  <a:srgbClr val="1A1A1A"/>
                </a:solidFill>
                <a:latin typeface="Arial"/>
              </a:rPr>
              <a:t>At the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same N₂q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greedy pruning keeps task-relevant interactions while random masks discard them — the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pattern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of retained entanglers, not the count, drives accuracy.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2067520" y="4983480"/>
            <a:ext cx="10302240" cy="15179040"/>
          </a:xfrm>
          <a:prstGeom prst="roundRect">
            <a:avLst>
              <a:gd name="adj" fmla="val 2500"/>
            </a:avLst>
          </a:prstGeom>
          <a:solidFill>
            <a:srgbClr val="FDF3E3"/>
          </a:solidFill>
          <a:ln w="38100">
            <a:solidFill>
              <a:srgbClr val="E899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2067520" y="498348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067520" y="540410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22268688" y="5120640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2268688" y="5102352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237952" y="4983480"/>
            <a:ext cx="8948927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Result 3 — On REAL hardware, compression becomes NECESSARY</a:t>
            </a:r>
          </a:p>
        </p:txBody>
      </p:sp>
      <p:pic>
        <p:nvPicPr>
          <p:cNvPr id="67" name="Picture 66" descr="fig_hardware_front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87560" y="6007607"/>
            <a:ext cx="9662160" cy="6956755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22387560" y="13055803"/>
            <a:ext cx="9662160" cy="4023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100" b="0" i="0">
                <a:solidFill>
                  <a:srgbClr val="1A1A1A"/>
                </a:solidFill>
                <a:latin typeface="Arial"/>
              </a:rPr>
              <a:t>Trained circuits run on physical IBM </a:t>
            </a:r>
            <a:r>
              <a:rPr sz="2100" b="1" i="0">
                <a:solidFill>
                  <a:srgbClr val="1A1A1A"/>
                </a:solidFill>
                <a:latin typeface="Arial"/>
              </a:rPr>
              <a:t>ibm_fez</a:t>
            </a:r>
            <a:r>
              <a:rPr sz="2100" b="0" i="0">
                <a:solidFill>
                  <a:srgbClr val="1A1A1A"/>
                </a:solidFill>
                <a:latin typeface="Arial"/>
              </a:rPr>
              <a:t> (156-qubit Heron), hard task, 5 device budgets, </a:t>
            </a:r>
            <a:r>
              <a:rPr sz="2100" b="1" i="0">
                <a:solidFill>
                  <a:srgbClr val="1A1A1A"/>
                </a:solidFill>
                <a:latin typeface="Arial"/>
              </a:rPr>
              <a:t>16 test stimuli @ 2048 shots</a:t>
            </a:r>
            <a:r>
              <a:rPr sz="2100" b="0" i="0">
                <a:solidFill>
                  <a:srgbClr val="1A1A1A"/>
                </a:solidFill>
                <a:latin typeface="Arial"/>
              </a:rPr>
              <a:t>  (endpoints: 40 stimuli @ 4096 shots).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100" b="0" i="0">
                <a:solidFill>
                  <a:srgbClr val="1A1A1A"/>
                </a:solidFill>
                <a:latin typeface="Arial"/>
              </a:rPr>
              <a:t>In simulation the frontier is flat; </a:t>
            </a:r>
            <a:r>
              <a:rPr sz="2100" b="1" i="0">
                <a:solidFill>
                  <a:srgbClr val="1A1A1A"/>
                </a:solidFill>
                <a:latin typeface="Arial"/>
              </a:rPr>
              <a:t>on hardware it falls monotonically</a:t>
            </a:r>
            <a:r>
              <a:rPr sz="2100" b="0" i="0">
                <a:solidFill>
                  <a:srgbClr val="1A1A1A"/>
                </a:solidFill>
                <a:latin typeface="Arial"/>
              </a:rPr>
              <a:t> with N₂q:  0.81 @ N₂q=2,6 → 0.75 @ 12 → </a:t>
            </a:r>
            <a:r>
              <a:rPr sz="2100" b="1" i="0">
                <a:solidFill>
                  <a:srgbClr val="1A1A1A"/>
                </a:solidFill>
                <a:latin typeface="Arial"/>
              </a:rPr>
              <a:t>collapses to 0.56</a:t>
            </a:r>
            <a:r>
              <a:rPr sz="2100" b="0" i="0">
                <a:solidFill>
                  <a:srgbClr val="1A1A1A"/>
                </a:solidFill>
                <a:latin typeface="Arial"/>
              </a:rPr>
              <a:t> (near chance) @ N₂q=18,24.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100" b="0" i="0">
                <a:solidFill>
                  <a:srgbClr val="1A1A1A"/>
                </a:solidFill>
                <a:latin typeface="Arial"/>
              </a:rPr>
              <a:t>Endpoint confirmation:  </a:t>
            </a:r>
            <a:r>
              <a:rPr sz="2100" b="1" i="0">
                <a:solidFill>
                  <a:srgbClr val="1A1A1A"/>
                </a:solidFill>
                <a:latin typeface="Arial"/>
              </a:rPr>
              <a:t>full circuit 0.60</a:t>
            </a:r>
            <a:r>
              <a:rPr sz="2100" b="0" i="0">
                <a:solidFill>
                  <a:srgbClr val="1A1A1A"/>
                </a:solidFill>
                <a:latin typeface="Arial"/>
              </a:rPr>
              <a:t> (sim 0.95) vs </a:t>
            </a:r>
            <a:r>
              <a:rPr sz="2100" b="1" i="0">
                <a:solidFill>
                  <a:srgbClr val="1A1A1A"/>
                </a:solidFill>
                <a:latin typeface="Arial"/>
              </a:rPr>
              <a:t>compressed 0.83</a:t>
            </a:r>
            <a:r>
              <a:rPr sz="2100" b="0" i="0">
                <a:solidFill>
                  <a:srgbClr val="1A1A1A"/>
                </a:solidFill>
                <a:latin typeface="Arial"/>
              </a:rPr>
              <a:t> (sim 0.93).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387560" y="17099280"/>
            <a:ext cx="9662160" cy="2788920"/>
          </a:xfrm>
          <a:prstGeom prst="roundRect">
            <a:avLst>
              <a:gd name="adj" fmla="val 5000"/>
            </a:avLst>
          </a:prstGeom>
          <a:solidFill>
            <a:srgbClr val="E899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570440" y="17209008"/>
            <a:ext cx="9296400" cy="2569463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1" i="0">
                <a:solidFill>
                  <a:srgbClr val="012169"/>
                </a:solidFill>
                <a:latin typeface="Arial"/>
              </a:rPr>
              <a:t>TAKEAWAY  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>
                <a:solidFill>
                  <a:srgbClr val="012169"/>
                </a:solidFill>
                <a:latin typeface="Arial"/>
              </a:rPr>
              <a:t>On real NISQ hardware, hardware-aware compression is not merely economical but </a:t>
            </a:r>
            <a:r>
              <a:rPr sz="2100" b="1" i="0">
                <a:solidFill>
                  <a:srgbClr val="012169"/>
                </a:solidFill>
                <a:latin typeface="Arial"/>
              </a:rPr>
              <a:t>necessary</a:t>
            </a:r>
            <a:r>
              <a:rPr sz="2100" b="0" i="0">
                <a:solidFill>
                  <a:srgbClr val="012169"/>
                </a:solidFill>
                <a:latin typeface="Arial"/>
              </a:rPr>
              <a:t> — surplus entangling capacity is actively harmful, and task-aware pruning is what makes the learner usable at all.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2067520" y="20574000"/>
            <a:ext cx="10302240" cy="841248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2067520" y="2057400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067520" y="2099462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22268688" y="20711160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2268688" y="20692872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012169"/>
                </a:solidFill>
                <a:latin typeface="Arial"/>
              </a:rPr>
              <a:t>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237952" y="20574000"/>
            <a:ext cx="8948927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Robustness — not an artifact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387560" y="21579840"/>
            <a:ext cx="9662160" cy="72237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Device noise model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(FakeManila, 4096 shots, 5 seeds): noisy accuracy tracks the noiseless frontier within a few % at every budget → savings genuine net of noise.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7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Density-matrix model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(genuine mixed state, non-unital channel): reproduces every finding — flat frontier, collapse at N₂q=0, hard peak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0.88 @ 6 vs 0.87 @ 24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learned &gt; random (mean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+0.043</a:t>
            </a:r>
            <a:r>
              <a:rPr sz="2200" b="0" i="0">
                <a:solidFill>
                  <a:srgbClr val="1A1A1A"/>
                </a:solidFill>
                <a:latin typeface="Arial"/>
              </a:rPr>
              <a:t>).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Classical baselines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 (identical splits, 5 seeds): logistic regression at chance on every level; RBF-SVM &amp; MLP fall monotonically easy→hard. Best compressed QBL: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easy 0.970, medium 0.973, hard 0.927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2067520" y="29397960"/>
            <a:ext cx="10302240" cy="6400800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22067520" y="2939796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2067520" y="29818584"/>
            <a:ext cx="10302240" cy="420624"/>
          </a:xfrm>
          <a:prstGeom prst="rect">
            <a:avLst/>
          </a:prstGeom>
          <a:solidFill>
            <a:srgbClr val="005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2268688" y="29535119"/>
            <a:ext cx="713232" cy="566928"/>
          </a:xfrm>
          <a:prstGeom prst="roundRect">
            <a:avLst>
              <a:gd name="adj" fmla="val 18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68688" y="29516831"/>
            <a:ext cx="71323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237952" y="29397960"/>
            <a:ext cx="8948927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387560" y="30403800"/>
            <a:ext cx="9662160" cy="52120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Most entanglement is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redundant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— sheds ~</a:t>
            </a:r>
            <a:r>
              <a:rPr sz="2200" b="1" i="0">
                <a:solidFill>
                  <a:srgbClr val="1A1A1A"/>
                </a:solidFill>
                <a:latin typeface="Arial"/>
              </a:rPr>
              <a:t>2/3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of two-qubit gates for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free</a:t>
            </a:r>
            <a:r>
              <a:rPr sz="2200" b="0" i="0">
                <a:solidFill>
                  <a:srgbClr val="1A1A1A"/>
                </a:solidFill>
                <a:latin typeface="Arial"/>
              </a:rPr>
              <a:t>,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&gt;90%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at modest cost.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200" b="0" i="0">
                <a:solidFill>
                  <a:srgbClr val="1A1A1A"/>
                </a:solidFill>
                <a:latin typeface="Arial"/>
              </a:rPr>
              <a:t>Entanglement is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necessary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— removing all of it collapses the learner to chance: a concrete </a:t>
            </a:r>
            <a:r>
              <a:rPr sz="2200" b="1" i="0">
                <a:solidFill>
                  <a:srgbClr val="1A1A1A"/>
                </a:solidFill>
                <a:latin typeface="Arial"/>
              </a:rPr>
              <a:t>capacity boundary</a:t>
            </a:r>
            <a:r>
              <a:rPr sz="2200" b="0" i="0">
                <a:solidFill>
                  <a:srgbClr val="1A1A1A"/>
                </a:solidFill>
                <a:latin typeface="Arial"/>
              </a:rPr>
              <a:t>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1A1A1A"/>
                </a:solidFill>
                <a:latin typeface="Arial"/>
              </a:rPr>
              <a:t>Structure beats count</a:t>
            </a:r>
            <a:r>
              <a:rPr sz="2200" b="0" i="0">
                <a:solidFill>
                  <a:srgbClr val="1A1A1A"/>
                </a:solidFill>
                <a:latin typeface="Arial"/>
              </a:rPr>
              <a:t> — learned masks beat random at every matched budget.</a:t>
            </a:r>
          </a:p>
          <a:p>
            <a:pPr algn="l" indent="-256032" marL="256032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539B"/>
              </a:buClr>
              <a:buFont typeface="Arial"/>
              <a:buChar char="▪"/>
            </a:pPr>
            <a:r>
              <a:rPr sz="2200" b="1" i="0">
                <a:solidFill>
                  <a:srgbClr val="012169"/>
                </a:solidFill>
                <a:latin typeface="Arial"/>
              </a:rPr>
              <a:t>On real hardware, compression is what makes the learner work at all.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2067520" y="36210240"/>
            <a:ext cx="10302240" cy="7132319"/>
          </a:xfrm>
          <a:prstGeom prst="roundRect">
            <a:avLst>
              <a:gd name="adj" fmla="val 25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22067520" y="36210240"/>
            <a:ext cx="10302240" cy="841248"/>
          </a:xfrm>
          <a:prstGeom prst="roundRect">
            <a:avLst>
              <a:gd name="adj" fmla="val 10000"/>
            </a:avLst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067520" y="36630864"/>
            <a:ext cx="10302240" cy="420624"/>
          </a:xfrm>
          <a:prstGeom prst="rect">
            <a:avLst/>
          </a:prstGeom>
          <a:solidFill>
            <a:srgbClr val="012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341840" y="36210240"/>
            <a:ext cx="9845040" cy="8412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Arial"/>
              </a:rPr>
              <a:t>References  ·  Acknowledgments  ·  Links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387560" y="37216080"/>
            <a:ext cx="7010399" cy="594359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700" b="1" i="0">
                <a:solidFill>
                  <a:srgbClr val="012169"/>
                </a:solidFill>
                <a:latin typeface="Arial"/>
              </a:rPr>
              <a:t>Future work: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Multi-qubit belief registers &amp; higher-dim stimuli; richer non-unital evidence channels; hardware-aware objectives weighting depth, coherence &amp; native fidelity; measured device error rates fed back into the compression objective.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Arial"/>
              </a:rPr>
              <a:t>[1] Busemeyer &amp; Bruza, Quantum Models of Cognition and Decision, 2012.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Arial"/>
              </a:rPr>
              <a:t>[2] Pothos &amp; Chater, “A simplicity principle in unsupervised human categorization,” Cogn. Psych., 2002.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Arial"/>
              </a:rPr>
              <a:t>[3] Kandala et al., “Hardware-efficient VQE,” Nature, 2017.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Arial"/>
              </a:rPr>
              <a:t>[4] Preskill, “Quantum computing in the NISQ era and beyond,” Quantum, 2018.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Arial"/>
              </a:rPr>
              <a:t>[5] Cerezo et al., “Variational quantum algorithms,” Nat. Rev. Phys., 2021.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550" b="0" i="0">
                <a:solidFill>
                  <a:srgbClr val="1A1A1A"/>
                </a:solidFill>
                <a:latin typeface="Arial"/>
              </a:rPr>
              <a:t>[6] Sim et al., “Adaptive pruning-based optimization of PQCs,” Quantum Sci. Technol., 2021.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12169"/>
                </a:solidFill>
                <a:latin typeface="Arial"/>
              </a:rPr>
              <a:t>Acknowledgments:  </a:t>
            </a:r>
            <a:r>
              <a:rPr sz="1600" b="0" i="0">
                <a:solidFill>
                  <a:srgbClr val="1A1A1A"/>
                </a:solidFill>
                <a:latin typeface="Arial"/>
              </a:rPr>
              <a:t>Device runs used IBM Quantum services. The author thanks Duke University’s Pratt School of Engineering.</a:t>
            </a:r>
          </a:p>
        </p:txBody>
      </p:sp>
      <p:pic>
        <p:nvPicPr>
          <p:cNvPr id="90" name="Picture 89" descr="repo_q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18000" y="37307520"/>
            <a:ext cx="2331720" cy="2331720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29489400" y="39675816"/>
            <a:ext cx="2788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50" b="1" i="0">
                <a:solidFill>
                  <a:srgbClr val="012169"/>
                </a:solidFill>
                <a:latin typeface="Arial"/>
              </a:rPr>
              <a:t>Scan for code &amp; data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300" b="0" i="0">
                <a:solidFill>
                  <a:srgbClr val="00539B"/>
                </a:solidFill>
                <a:latin typeface="Arial"/>
              </a:rPr>
              <a:t>github.com/zoraizmohammad/
qb-learner-compression</a:t>
            </a:r>
          </a:p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Mohammad Zoraiz · mz248@duke.edu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